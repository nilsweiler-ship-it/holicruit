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One-line: Holicruit fixes hiring's trust problem. We match on the whole person and, win or lose, tell every candidate exactly where they stood. Set up the two-sided pain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89% would rather hear no. That single number is the wedge: candidates are begging for the honesty we deliver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89%-lack-soft-skills stat is the bridge to our product: soft skills are exactly what we measure objectively, and no one else does it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pillars. The first two exist elsewhere in pieces; the Growth Report is ours and it's the wedge — transparency as a default, not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screen in the product, not a mockup for the deck. Show it in the demo: log in as Sam, open a closed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flywheel is why this is defensible: transparency generates proprietary gap + outcome data that improves matching and provider ranking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Candidates are free and drive liquidity. We monetize the three commercial sides. The provider side is the differentiated, high-margin line no job board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figures vary by source ($500B–$970B); we cite conservatively. The point isn't precision — it's a huge, growing market with a worsening trust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Incentive alignment is the story: we make money when good matches and real outcomes happen, not from churn or ad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Wedge is honesty: rejected candidates become promoters. That's a low-CAC growth loop no incumbent has, because their model depends on the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proprietary data + the positioning point: incumbents literally cannot copy radical transparency without breaking their own business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pre-revenue, pre-launch, but the product is real and demoable now. That de-risks the 'can they build it' question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raise amount and use-of-funds split before sending. Close on the vision: the default way the world hires becomes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754880" cy="4754880"/>
          </a:xfrm>
          <a:prstGeom prst="ellipse">
            <a:avLst/>
          </a:prstGeom>
          <a:solidFill>
            <a:srgbClr val="E0533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E0533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Recruiting that tells you the truth.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Holistic, opt-in hiring built on radical transparency — every candidate sees their true fit, the one gap that cost them the role, and a path to close 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·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Nils Weiler, Founder · nils.weiler@gmail.com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· CANDIDATES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 is a black box — and it's getting darker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BF8F3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46888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applicants never hear back at 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663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worse than in 2021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8264" y="21488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BF8F3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43984" y="246888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4718304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rather be told “no” than be ghosted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4663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 is the #1 complaint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47888" y="21488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BF8F3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93608" y="246888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6200" dirty="0"/>
          </a:p>
        </p:txBody>
      </p:sp>
      <p:sp>
        <p:nvSpPr>
          <p:cNvPr id="14" name="Text 12"/>
          <p:cNvSpPr/>
          <p:nvPr/>
        </p:nvSpPr>
        <p:spPr>
          <a:xfrm>
            <a:off x="8567928" y="3749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rate in tech — the worst sector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67928" y="4663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healthcare, the best, is just 20%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silent rejection burns a future applicant, referrer, and customer — and quietly erodes the employer's brand.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 —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· EMPLOYERS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other side is just as broken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64008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31720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≥30%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423160" y="2331720"/>
            <a:ext cx="4343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first-year salary — the floor cost of one bad hire (US DOL). At the high end, 3–4x salary.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575304"/>
            <a:ext cx="64008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666744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3666744"/>
            <a:ext cx="4343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new hires fail within 18 months.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910328"/>
            <a:ext cx="64008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5001768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23160" y="5001768"/>
            <a:ext cx="4343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those failures come down to missing soft skills — not technical ability.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269480" y="2240280"/>
            <a:ext cx="4370832" cy="3803904"/>
          </a:xfrm>
          <a:prstGeom prst="roundRect">
            <a:avLst>
              <a:gd name="adj" fmla="val 2163"/>
            </a:avLst>
          </a:prstGeom>
          <a:solidFill>
            <a:srgbClr val="161514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cause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43800" y="29260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Résumés and keyword screens see a fraction of a person.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543800" y="41605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both sides fly blind — employers mis-hire on the skills that actually predict success, and candidates never learn why. AI screening is making the black box worse, not better.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 —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480560"/>
            <a:ext cx="4206240" cy="4206240"/>
          </a:xfrm>
          <a:prstGeom prst="ellipse">
            <a:avLst/>
          </a:prstGeom>
          <a:solidFill>
            <a:srgbClr val="E0533D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on the whole person. Tell everyone the truth.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fit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skills, scenario-assessed soft skills (never self-rated), and verified evidence — scored against the role's real bar.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278892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matching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4297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 starts only when both sides opt in. No cold applications, no spray-and-pray.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21040" y="278892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41080" y="37490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 Report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41080" y="4297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rejection comes with the exact gap that made the difference — and the path to close 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THE HERO SCREEN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Growth Report turns every “no” into a next step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4160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is never silent.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see their hard and soft sub-scores against the role's bar, the single gap that decided it, and the programs that close 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gap → the profile re-runs through matching automatically.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74920" y="2057400"/>
            <a:ext cx="6565392" cy="3977640"/>
          </a:xfrm>
          <a:prstGeom prst="roundRect">
            <a:avLst>
              <a:gd name="adj" fmla="val 2069"/>
            </a:avLst>
          </a:prstGeom>
          <a:solidFill>
            <a:srgbClr val="FBF8F3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4068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Report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40680" y="2715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Product Engineer · Orbit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31552" y="2368296"/>
            <a:ext cx="1143000" cy="320040"/>
          </a:xfrm>
          <a:prstGeom prst="rect">
            <a:avLst/>
          </a:prstGeom>
          <a:solidFill>
            <a:srgbClr val="EDE6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40680" y="3273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71432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82 · bar 75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40680" y="3584448"/>
            <a:ext cx="5833872" cy="146304"/>
          </a:xfrm>
          <a:prstGeom prst="roundRect">
            <a:avLst>
              <a:gd name="adj" fmla="val 50000"/>
            </a:avLst>
          </a:prstGeom>
          <a:solidFill>
            <a:srgbClr val="E4DCC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0680" y="3584448"/>
            <a:ext cx="4783775" cy="14630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3986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fit (assessed)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71432" y="3986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61 · bar 70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40680" y="4297680"/>
            <a:ext cx="5833872" cy="146304"/>
          </a:xfrm>
          <a:prstGeom prst="roundRect">
            <a:avLst>
              <a:gd name="adj" fmla="val 50000"/>
            </a:avLst>
          </a:prstGeom>
          <a:solidFill>
            <a:srgbClr val="E4DCC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40680" y="4297680"/>
            <a:ext cx="3558662" cy="146304"/>
          </a:xfrm>
          <a:prstGeom prst="roundRect">
            <a:avLst>
              <a:gd name="adj" fmla="val 50000"/>
            </a:avLst>
          </a:prstGeom>
          <a:solidFill>
            <a:srgbClr val="E05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4700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71432" y="4700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88 · bar 60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40680" y="5010912"/>
            <a:ext cx="5833872" cy="146304"/>
          </a:xfrm>
          <a:prstGeom prst="roundRect">
            <a:avLst>
              <a:gd name="adj" fmla="val 50000"/>
            </a:avLst>
          </a:prstGeom>
          <a:solidFill>
            <a:srgbClr val="E4DCC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40680" y="5010912"/>
            <a:ext cx="5133807" cy="14630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2" name="Shape 20"/>
          <p:cNvSpPr/>
          <p:nvPr/>
        </p:nvSpPr>
        <p:spPr>
          <a:xfrm>
            <a:off x="5440680" y="5477256"/>
            <a:ext cx="5833872" cy="749808"/>
          </a:xfrm>
          <a:prstGeom prst="roundRect">
            <a:avLst>
              <a:gd name="adj" fmla="val 9756"/>
            </a:avLst>
          </a:prstGeom>
          <a:solidFill>
            <a:srgbClr val="F7E3DE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5477256"/>
            <a:ext cx="5468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gap: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“Soft-skill: stakeholder influence”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3 programs close it; finishing one clears 4 open roles.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 —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COMPOUNDS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transparency flywheel, not a job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7432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3035808"/>
            <a:ext cx="457200" cy="457200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365760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411480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person — hard, soft, verified.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33472" y="35661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25496" y="27432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81528" y="3035808"/>
            <a:ext cx="457200" cy="457200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08152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44952" y="365760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044952" y="411480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mutual, opt-in fit.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5661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84064" y="27432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0096" y="3035808"/>
            <a:ext cx="457200" cy="457200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340096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365760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03520" y="411480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outcome ships a Growth Report.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50608" y="35661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42632" y="27432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98664" y="3035808"/>
            <a:ext cx="457200" cy="457200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24" name="Text 22"/>
          <p:cNvSpPr/>
          <p:nvPr/>
        </p:nvSpPr>
        <p:spPr>
          <a:xfrm>
            <a:off x="7598664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62088" y="365760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gap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62088" y="411480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Providers' programs, ranked on outcomes.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09176" y="35661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01200" y="274320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F4EFE7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57232" y="3035808"/>
            <a:ext cx="457200" cy="457200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30" name="Text 28"/>
          <p:cNvSpPr/>
          <p:nvPr/>
        </p:nvSpPr>
        <p:spPr>
          <a:xfrm>
            <a:off x="985723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20656" y="365760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Re-match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820656" y="4114800"/>
            <a:ext cx="1673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profile, better pipeline — repeat.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loop makes candidate profiles richer, matches sharper, and providers' ROI provable — data no incumbent can copy.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 —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· FOUR SIDES, ONE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marketplace where every side wins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715768"/>
            <a:ext cx="256032" cy="256032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30815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on merit, honest feedback always. Free — our demand engine.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233172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74536" y="2715768"/>
            <a:ext cx="256032" cy="256032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0" name="Text 8"/>
          <p:cNvSpPr/>
          <p:nvPr/>
        </p:nvSpPr>
        <p:spPr>
          <a:xfrm>
            <a:off x="6986016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86016" y="30815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scored against their bar; a pipeline, not a pile.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24528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4608576"/>
            <a:ext cx="256032" cy="256032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4498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8448" y="49743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 matches, paid on outcomes only — no retainers.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4224528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4EFE7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74536" y="4608576"/>
            <a:ext cx="256032" cy="256032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986016" y="4498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providers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86016" y="49743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candidates with the exact gap they close, ranked on outcomes.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 —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$500B+ market actively looking for a better way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61514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$500B+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401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767328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recruitment &amp; staffing spend, growing high-single-digit annually.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8264" y="219456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BF8F3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72584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~$90B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90872" y="3401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3767328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hiring &amp; talent-assessment software — where we compete.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7888" y="219456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BF8F3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22208" y="25146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5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Wedge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40496" y="3401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40496" y="3767328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Skills-assessed, transparency-first hiring across SW, healthcare, sales, finance.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Tailwind: 53% of job seekers were ghosted in the past year (up from 38%) and ~85% of recruiters now use AI screening — deepening the trust gap we close.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 —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revenue lines, aligned to outcomes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88336"/>
            <a:ext cx="292608" cy="292608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4323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subscriptions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94960" y="243230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seats gated on Holicruit-only value — talent pool, calibration, decision intelligence &amp; quality-of-hire analytics.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0" y="2615184"/>
            <a:ext cx="1371600" cy="411480"/>
          </a:xfrm>
          <a:prstGeom prst="rect">
            <a:avLst/>
          </a:prstGeom>
          <a:solidFill>
            <a:srgbClr val="F7E3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968496"/>
            <a:ext cx="292608" cy="292608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71246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success fees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94960" y="371246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 of the placement fee, charged only on a hire.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0" y="3895344"/>
            <a:ext cx="1371600" cy="411480"/>
          </a:xfrm>
          <a:prstGeom prst="rect">
            <a:avLst/>
          </a:prstGeom>
          <a:solidFill>
            <a:srgbClr val="F7E3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248656"/>
            <a:ext cx="292608" cy="292608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99262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marketplace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94960" y="499262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rate on enrollments from Growth-Report-driven demand.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0" y="5175504"/>
            <a:ext cx="1371600" cy="411480"/>
          </a:xfrm>
          <a:prstGeom prst="rect">
            <a:avLst/>
          </a:prstGeom>
          <a:solidFill>
            <a:srgbClr val="F7E3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stay free forever — they are the liquidity that makes all three lines work.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 —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design-partner employers, spin the flywheel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4EFE7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partners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handful of employers post live roles; onboard founding training providers per gap type.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28600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density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5488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deep in one or two verticals (software first) so matches are liquid and referrals compound.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228600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4108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scale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4108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revenue + candidate word-of-mouth from honest feedback drive low-CAC growth.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 —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389120" cy="4389120"/>
          </a:xfrm>
          <a:prstGeom prst="ellipse">
            <a:avLst/>
          </a:prstGeom>
          <a:solidFill>
            <a:srgbClr val="E0533D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moat that deepens with every match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42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+ outcome data from every Growth Report — the fuel for better matching and provider ranking. Uncopyable without transparency.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6208" y="228600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2542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Two-sided lock-in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01968" y="29992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portable profiles compound for candidates; ranked pipelines and provable ROI keep employers and providers.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as honesty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the truthful platform is a positioning incumbents can't follow — their revenue depends on the black box.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4178808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Domain-agnostic engine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01968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Scenario-based soft-skill assessment travels across industries, so expansion is a data problem, not a rebuild.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15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product, ready for design partners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 built: candidate, hiring-manager, recruiter &amp; provider apps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fit model + Growth Report + opt-in matching, on a real database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Cross-industry demo (software, healthcare, sales) you can click through 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53912" y="224028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F4EFE7"/>
          </a:solidFill>
          <a:ln w="12700">
            <a:solidFill>
              <a:srgbClr val="ECE5D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3952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6–12 months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3952" y="29260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first design-partner employers &amp; training providers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the flywheel: gap → program → re-match conversion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paid pipelines and provider enrollments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Holicruit —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737360"/>
            <a:ext cx="4937760" cy="4937760"/>
          </a:xfrm>
          <a:prstGeom prst="ellipse">
            <a:avLst/>
          </a:prstGeom>
          <a:solidFill>
            <a:srgbClr val="E0533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a seed round to reach a repeatable hiring loop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buNone/>
            </a:pPr>
            <a:r>
              <a:rPr lang="en-US" sz="16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€___</a:t>
            </a:r>
            <a:pPr indent="0" marL="0">
              <a:buNone/>
            </a:pPr>
            <a:r>
              <a:rPr lang="en-US" sz="1600" dirty="0">
                <a:solidFill>
                  <a:srgbClr val="9A9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indent="0" marL="0">
              <a:buNone/>
            </a:pPr>
            <a:r>
              <a:rPr lang="en-US" sz="16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~__ months runway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57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partners &amp; GTM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and support the first employers and providers.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9704" y="34290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024" y="3657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4024" y="4297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matching, instrument the flywheel, ship analytics.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39328" y="34290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22201E"/>
          </a:solidFill>
          <a:ln w="12700">
            <a:solidFill>
              <a:srgbClr val="3432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13648" y="3657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5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13648" y="4297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hires across engineering and partnerships.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Nils Weiler, Founder · nils.weiler@gmail.com · holicruit.com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Holicruit — Investor Deck</dc:title>
  <dc:subject>PptxGenJS Presentation</dc:subject>
  <dc:creator>Holicruit</dc:creator>
  <cp:lastModifiedBy>Holicruit</cp:lastModifiedBy>
  <cp:revision>1</cp:revision>
  <dcterms:created xsi:type="dcterms:W3CDTF">2026-07-02T03:59:18Z</dcterms:created>
  <dcterms:modified xsi:type="dcterms:W3CDTF">2026-07-02T03:59:18Z</dcterms:modified>
</cp:coreProperties>
</file>